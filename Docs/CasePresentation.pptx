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144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eidiane Silva Prates" userId="e687ea80-49bf-415c-a2ca-fd000e5fe373" providerId="ADAL" clId="{F26F76D0-8C98-471A-9638-E95A03BC5A0C}"/>
    <pc:docChg chg="undo custSel modSld">
      <pc:chgData name="Cleidiane Silva Prates" userId="e687ea80-49bf-415c-a2ca-fd000e5fe373" providerId="ADAL" clId="{F26F76D0-8C98-471A-9638-E95A03BC5A0C}" dt="2026-03-24T12:11:16.832" v="59" actId="27636"/>
      <pc:docMkLst>
        <pc:docMk/>
      </pc:docMkLst>
      <pc:sldChg chg="modSp mod">
        <pc:chgData name="Cleidiane Silva Prates" userId="e687ea80-49bf-415c-a2ca-fd000e5fe373" providerId="ADAL" clId="{F26F76D0-8C98-471A-9638-E95A03BC5A0C}" dt="2026-03-24T12:09:53.898" v="18" actId="1036"/>
        <pc:sldMkLst>
          <pc:docMk/>
          <pc:sldMk cId="0" sldId="257"/>
        </pc:sldMkLst>
        <pc:spChg chg="mod">
          <ac:chgData name="Cleidiane Silva Prates" userId="e687ea80-49bf-415c-a2ca-fd000e5fe373" providerId="ADAL" clId="{F26F76D0-8C98-471A-9638-E95A03BC5A0C}" dt="2026-03-24T12:09:53.898" v="18" actId="103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Cleidiane Silva Prates" userId="e687ea80-49bf-415c-a2ca-fd000e5fe373" providerId="ADAL" clId="{F26F76D0-8C98-471A-9638-E95A03BC5A0C}" dt="2026-03-24T12:09:50.415" v="7" actId="1036"/>
          <ac:spMkLst>
            <pc:docMk/>
            <pc:sldMk cId="0" sldId="257"/>
            <ac:spMk id="15" creationId="{00000000-0000-0000-0000-000000000000}"/>
          </ac:spMkLst>
        </pc:spChg>
      </pc:sldChg>
      <pc:sldChg chg="modSp mod">
        <pc:chgData name="Cleidiane Silva Prates" userId="e687ea80-49bf-415c-a2ca-fd000e5fe373" providerId="ADAL" clId="{F26F76D0-8C98-471A-9638-E95A03BC5A0C}" dt="2026-03-24T12:11:16.762" v="57" actId="1035"/>
        <pc:sldMkLst>
          <pc:docMk/>
          <pc:sldMk cId="0" sldId="258"/>
        </pc:sldMkLst>
        <pc:spChg chg="mod">
          <ac:chgData name="Cleidiane Silva Prates" userId="e687ea80-49bf-415c-a2ca-fd000e5fe373" providerId="ADAL" clId="{F26F76D0-8C98-471A-9638-E95A03BC5A0C}" dt="2026-03-24T12:10:12.140" v="26" actId="103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Cleidiane Silva Prates" userId="e687ea80-49bf-415c-a2ca-fd000e5fe373" providerId="ADAL" clId="{F26F76D0-8C98-471A-9638-E95A03BC5A0C}" dt="2026-03-24T12:10:25.210" v="33" actId="1035"/>
          <ac:spMkLst>
            <pc:docMk/>
            <pc:sldMk cId="0" sldId="258"/>
            <ac:spMk id="47" creationId="{00000000-0000-0000-0000-000000000000}"/>
          </ac:spMkLst>
        </pc:spChg>
        <pc:spChg chg="mod">
          <ac:chgData name="Cleidiane Silva Prates" userId="e687ea80-49bf-415c-a2ca-fd000e5fe373" providerId="ADAL" clId="{F26F76D0-8C98-471A-9638-E95A03BC5A0C}" dt="2026-03-24T12:11:16.762" v="57" actId="1035"/>
          <ac:spMkLst>
            <pc:docMk/>
            <pc:sldMk cId="0" sldId="258"/>
            <ac:spMk id="48" creationId="{00000000-0000-0000-0000-000000000000}"/>
          </ac:spMkLst>
        </pc:spChg>
        <pc:spChg chg="mod">
          <ac:chgData name="Cleidiane Silva Prates" userId="e687ea80-49bf-415c-a2ca-fd000e5fe373" providerId="ADAL" clId="{F26F76D0-8C98-471A-9638-E95A03BC5A0C}" dt="2026-03-24T12:10:30.791" v="39" actId="1035"/>
          <ac:spMkLst>
            <pc:docMk/>
            <pc:sldMk cId="0" sldId="258"/>
            <ac:spMk id="49" creationId="{00000000-0000-0000-0000-000000000000}"/>
          </ac:spMkLst>
        </pc:spChg>
      </pc:sldChg>
      <pc:sldChg chg="modSp mod">
        <pc:chgData name="Cleidiane Silva Prates" userId="e687ea80-49bf-415c-a2ca-fd000e5fe373" providerId="ADAL" clId="{F26F76D0-8C98-471A-9638-E95A03BC5A0C}" dt="2026-03-24T12:11:16.832" v="59" actId="27636"/>
        <pc:sldMkLst>
          <pc:docMk/>
          <pc:sldMk cId="0" sldId="262"/>
        </pc:sldMkLst>
        <pc:spChg chg="mod">
          <ac:chgData name="Cleidiane Silva Prates" userId="e687ea80-49bf-415c-a2ca-fd000e5fe373" providerId="ADAL" clId="{F26F76D0-8C98-471A-9638-E95A03BC5A0C}" dt="2026-03-24T12:11:16.832" v="59" actId="2763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Cleidiane Silva Prates" userId="e687ea80-49bf-415c-a2ca-fd000e5fe373" providerId="ADAL" clId="{F26F76D0-8C98-471A-9638-E95A03BC5A0C}" dt="2026-03-24T12:11:16.830" v="58" actId="27636"/>
          <ac:spMkLst>
            <pc:docMk/>
            <pc:sldMk cId="0" sldId="262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935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Official NTT DATA logo asset: https://www.nttdata.com/global/en/-/media/assets/images/sns_share.png?rev=838cdd2aecbb411b8182c0410f6553ff
- Hero illustration: generated with OpenAI image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Product/report illustration: generated with OpenAI image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A2E57"/>
          </a:solidFill>
          <a:ln w="12700">
            <a:solidFill>
              <a:srgbClr val="0A2E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/mnt/data/a_digital_illustration_in_a_modern_futuristic_fin.png"/>
          <p:cNvPicPr>
            <a:picLocks noChangeAspect="1"/>
          </p:cNvPicPr>
          <p:nvPr/>
        </p:nvPicPr>
        <p:blipFill>
          <a:blip r:embed="rId3"/>
          <a:srcRect l="12964" r="12964"/>
          <a:stretch/>
        </p:blipFill>
        <p:spPr>
          <a:xfrm>
            <a:off x="4572000" y="0"/>
            <a:ext cx="7619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53712" y="365760"/>
            <a:ext cx="0" cy="6126480"/>
          </a:xfrm>
          <a:prstGeom prst="line">
            <a:avLst/>
          </a:prstGeom>
          <a:noFill/>
          <a:ln w="25400">
            <a:solidFill>
              <a:srgbClr val="33B5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49808" y="141732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de desafio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para investimentos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68096" y="27614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6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do projeto final para novos membros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68096" y="3310128"/>
            <a:ext cx="1078992" cy="310896"/>
          </a:xfrm>
          <a:prstGeom prst="roundRect">
            <a:avLst>
              <a:gd name="adj" fmla="val 14706"/>
            </a:avLst>
          </a:prstGeom>
          <a:solidFill>
            <a:srgbClr val="0072BC"/>
          </a:solidFill>
          <a:ln w="12700">
            <a:solidFill>
              <a:srgbClr val="33B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68680" y="337413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XYZ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68096" y="391363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centrado em personalização, experiência e governança no uso de LLMs.</a:t>
            </a:r>
            <a:endParaRPr lang="en-US" sz="1600" dirty="0"/>
          </a:p>
        </p:txBody>
      </p:sp>
      <p:pic>
        <p:nvPicPr>
          <p:cNvPr id="10" name="Image 1" descr="/mnt/data/nttdata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902089"/>
            <a:ext cx="1828800" cy="37563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12680" y="457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AF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NTT DATA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109728" cy="658368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68680" y="43891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e desafio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77824" y="86868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case simula uma aplicação real de GenAI no contexto bancário.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12984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96112" y="1627632"/>
            <a:ext cx="73152" cy="7315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42416" y="1536192"/>
            <a:ext cx="4837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Banco XYZ quer automatizar relatórios e comunicações de investimentos para seus clientes.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96112" y="2103120"/>
            <a:ext cx="73152" cy="7315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42416" y="2011680"/>
            <a:ext cx="4837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comunicação deve refletir perfil de risco, objetivos financeiros e carteira do cliente.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5786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CENTRAL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96112" y="2907792"/>
            <a:ext cx="73152" cy="7315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42416" y="2816352"/>
            <a:ext cx="4837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 dados estruturados em uma recomendação clara, personalizada e aderente ao contexto do cliente.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6112" y="3488055"/>
            <a:ext cx="73152" cy="7315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042416" y="3358515"/>
            <a:ext cx="4837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Demonstrar uso de LLM com grounding em dados do cliente para evitar respostas genéricas.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38862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96112" y="413308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selecionar um cliente, o sistema gera um comunicado útil, bem escrito e plausível em um cenário real de atendimento bancário.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783080" y="5669280"/>
            <a:ext cx="41148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090672" y="5669280"/>
            <a:ext cx="50292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672584" y="5669280"/>
            <a:ext cx="438912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987552" y="5358384"/>
            <a:ext cx="868680" cy="603504"/>
          </a:xfrm>
          <a:prstGeom prst="roundRect">
            <a:avLst>
              <a:gd name="adj" fmla="val 6061"/>
            </a:avLst>
          </a:prstGeom>
          <a:solidFill>
            <a:srgbClr val="F5FAFD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078992" y="547725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331720" y="5358384"/>
            <a:ext cx="868680" cy="603504"/>
          </a:xfrm>
          <a:prstGeom prst="roundRect">
            <a:avLst>
              <a:gd name="adj" fmla="val 6061"/>
            </a:avLst>
          </a:prstGeom>
          <a:solidFill>
            <a:srgbClr val="F5FAFD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2423160" y="547725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estruturado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22192" y="5358384"/>
            <a:ext cx="868680" cy="603504"/>
          </a:xfrm>
          <a:prstGeom prst="roundRect">
            <a:avLst>
              <a:gd name="adj" fmla="val 6061"/>
            </a:avLst>
          </a:prstGeom>
          <a:solidFill>
            <a:srgbClr val="0072BC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913632" y="547725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Orquestração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LLM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40096" y="5358384"/>
            <a:ext cx="868680" cy="603504"/>
          </a:xfrm>
          <a:prstGeom prst="roundRect">
            <a:avLst>
              <a:gd name="adj" fmla="val 6061"/>
            </a:avLst>
          </a:prstGeom>
          <a:solidFill>
            <a:srgbClr val="F5FAFD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431536" y="547725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personalizado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43800" y="1325880"/>
            <a:ext cx="3977640" cy="4663440"/>
          </a:xfrm>
          <a:prstGeom prst="roundRect">
            <a:avLst>
              <a:gd name="adj" fmla="val 1839"/>
            </a:avLst>
          </a:prstGeom>
          <a:solidFill>
            <a:srgbClr val="F5FAFD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0" name="Image 0" descr="/mnt/data/a_digital_illustration_in_a_futuristic_and_prof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2453640"/>
            <a:ext cx="3611880" cy="24079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772400" y="5577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visual do tipo de experiência esperada: seleção do cliente, geração e exibição do relatório.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640080" y="6446520"/>
            <a:ext cx="1092708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0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NTT DATA | Case GenAI para investimentos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11247120" y="6446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109728" cy="658368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68680" y="43891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mínimo da entrega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77824" y="86868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funcionais mínimos para validar o desafio.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4709160" cy="2240280"/>
          </a:xfrm>
          <a:prstGeom prst="roundRect">
            <a:avLst>
              <a:gd name="adj" fmla="val 3265"/>
            </a:avLst>
          </a:prstGeom>
          <a:solidFill>
            <a:srgbClr val="F5FAFD"/>
          </a:solidFill>
          <a:ln w="12700">
            <a:solidFill>
              <a:srgbClr val="D8E7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841248" y="1389888"/>
            <a:ext cx="109728" cy="2203704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42416" y="1536192"/>
            <a:ext cx="4398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obrigatória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60704" y="2020824"/>
            <a:ext cx="54864" cy="54864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170432" y="193852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 para selecionar um cliente e acionar a geração do relatório.</a:t>
            </a:r>
            <a:endParaRPr lang="en-US" sz="1340" dirty="0"/>
          </a:p>
        </p:txBody>
      </p:sp>
      <p:sp>
        <p:nvSpPr>
          <p:cNvPr id="11" name="Shape 9"/>
          <p:cNvSpPr/>
          <p:nvPr/>
        </p:nvSpPr>
        <p:spPr>
          <a:xfrm>
            <a:off x="1060704" y="2359152"/>
            <a:ext cx="54864" cy="54864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170432" y="227685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um LLM para produzir o texto final.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1060704" y="2697480"/>
            <a:ext cx="54864" cy="54864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170432" y="261518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dos dados do cliente como contexto para personalizar a comunicação.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1060704" y="3035808"/>
            <a:ext cx="54864" cy="54864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170432" y="29535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Exibição do conteúdo gerado em tela.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822960" y="3822192"/>
            <a:ext cx="4709160" cy="1536192"/>
          </a:xfrm>
          <a:prstGeom prst="roundRect">
            <a:avLst>
              <a:gd name="adj" fmla="val 4762"/>
            </a:avLst>
          </a:prstGeom>
          <a:solidFill>
            <a:srgbClr val="F8FBFE"/>
          </a:solidFill>
          <a:ln w="12700">
            <a:solidFill>
              <a:srgbClr val="D8E7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41248" y="3840480"/>
            <a:ext cx="109728" cy="1499616"/>
          </a:xfrm>
          <a:prstGeom prst="rect">
            <a:avLst/>
          </a:prstGeom>
          <a:solidFill>
            <a:srgbClr val="33B5E5"/>
          </a:solidFill>
          <a:ln w="12700">
            <a:solidFill>
              <a:srgbClr val="33B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042416" y="3986784"/>
            <a:ext cx="4398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Diferenciais opcionais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60704" y="4471416"/>
            <a:ext cx="54864" cy="54864"/>
          </a:xfrm>
          <a:prstGeom prst="ellipse">
            <a:avLst/>
          </a:prstGeom>
          <a:solidFill>
            <a:srgbClr val="33B5E5"/>
          </a:solidFill>
          <a:ln w="12700">
            <a:solidFill>
              <a:srgbClr val="33B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170432" y="438912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Gráficos, dados externos, exportação em PDF e trilha de auditoria do processo.</a:t>
            </a:r>
            <a:endParaRPr lang="en-US" sz="1340" dirty="0"/>
          </a:p>
        </p:txBody>
      </p:sp>
      <p:sp>
        <p:nvSpPr>
          <p:cNvPr id="22" name="Shape 20"/>
          <p:cNvSpPr/>
          <p:nvPr/>
        </p:nvSpPr>
        <p:spPr>
          <a:xfrm>
            <a:off x="1060704" y="4809744"/>
            <a:ext cx="54864" cy="54864"/>
          </a:xfrm>
          <a:prstGeom prst="ellipse">
            <a:avLst/>
          </a:prstGeom>
          <a:solidFill>
            <a:srgbClr val="33B5E5"/>
          </a:solidFill>
          <a:ln w="12700">
            <a:solidFill>
              <a:srgbClr val="33B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170432" y="4794123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Justificativas do racional de investimento e versões resumida/detalhada do relatório.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5943600" y="13258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REFERÊNCIA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56832" y="2304288"/>
            <a:ext cx="384048" cy="0"/>
          </a:xfrm>
          <a:prstGeom prst="line">
            <a:avLst/>
          </a:prstGeom>
          <a:noFill/>
          <a:ln w="21590">
            <a:solidFill>
              <a:srgbClr val="0072BC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8065008" y="2304288"/>
            <a:ext cx="384048" cy="0"/>
          </a:xfrm>
          <a:prstGeom prst="line">
            <a:avLst/>
          </a:prstGeom>
          <a:noFill/>
          <a:ln w="21590">
            <a:solidFill>
              <a:srgbClr val="0072BC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9464040" y="2304288"/>
            <a:ext cx="347472" cy="0"/>
          </a:xfrm>
          <a:prstGeom prst="line">
            <a:avLst/>
          </a:prstGeom>
          <a:noFill/>
          <a:ln w="21590">
            <a:solidFill>
              <a:srgbClr val="0072BC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263640" y="1581912"/>
            <a:ext cx="274320" cy="274320"/>
          </a:xfrm>
          <a:prstGeom prst="ellipse">
            <a:avLst/>
          </a:prstGeom>
          <a:solidFill>
            <a:srgbClr val="33B5E5"/>
          </a:solidFill>
          <a:ln w="12700">
            <a:solidFill>
              <a:srgbClr val="0A2E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336792" y="163677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97880" y="1965960"/>
            <a:ext cx="100584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007608" y="214884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635240" y="1581912"/>
            <a:ext cx="274320" cy="274320"/>
          </a:xfrm>
          <a:prstGeom prst="ellipse">
            <a:avLst/>
          </a:prstGeom>
          <a:solidFill>
            <a:srgbClr val="33B5E5"/>
          </a:solidFill>
          <a:ln w="12700">
            <a:solidFill>
              <a:srgbClr val="0A2E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7708392" y="163677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69480" y="1965960"/>
            <a:ext cx="100584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7379208" y="214884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034272" y="1581912"/>
            <a:ext cx="274320" cy="274320"/>
          </a:xfrm>
          <a:prstGeom prst="ellipse">
            <a:avLst/>
          </a:prstGeom>
          <a:solidFill>
            <a:srgbClr val="33B5E5"/>
          </a:solidFill>
          <a:ln w="12700">
            <a:solidFill>
              <a:srgbClr val="0A2E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9107424" y="163677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668512" y="1965960"/>
            <a:ext cx="100584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8778240" y="214884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405872" y="1581912"/>
            <a:ext cx="274320" cy="274320"/>
          </a:xfrm>
          <a:prstGeom prst="ellipse">
            <a:avLst/>
          </a:prstGeom>
          <a:solidFill>
            <a:srgbClr val="33B5E5"/>
          </a:solidFill>
          <a:ln w="12700">
            <a:solidFill>
              <a:srgbClr val="0A2E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10479024" y="163677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040112" y="1965960"/>
            <a:ext cx="1005840" cy="676656"/>
          </a:xfrm>
          <a:prstGeom prst="roundRect">
            <a:avLst>
              <a:gd name="adj" fmla="val 5405"/>
            </a:avLst>
          </a:prstGeom>
          <a:solidFill>
            <a:srgbClr val="0072BC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10149840" y="214884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saída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961888" y="2907792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arquitetura pode ser simples, desde que o fluxo ponta a ponta fique claro e funcional.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5943600" y="36758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SUGERIDOS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971032" y="4005072"/>
            <a:ext cx="73152" cy="7315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117336" y="3846957"/>
            <a:ext cx="4791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do investidor, idade, renda e patrimônio investido.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971032" y="4443984"/>
            <a:ext cx="73152" cy="7315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6117336" y="4304919"/>
            <a:ext cx="4791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financeiros, horizonte de investimento e tolerância a risco.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5971032" y="4882896"/>
            <a:ext cx="73152" cy="7315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6117336" y="4791456"/>
            <a:ext cx="4791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Produtos atuais, histórico de movimentações e preferências de comunicação.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40080" y="6446520"/>
            <a:ext cx="1092708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NTT DATA | Case GenAI para investimentos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1247120" y="6446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109728" cy="658368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68680" y="43891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Níveis de solução GenAI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77824" y="86868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 pode evoluir em maturidade, sofisticação e governança.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" y="5852160"/>
            <a:ext cx="10012680" cy="384048"/>
          </a:xfrm>
          <a:prstGeom prst="chevron">
            <a:avLst/>
          </a:prstGeom>
          <a:solidFill>
            <a:srgbClr val="EAF5FB"/>
          </a:solidFill>
          <a:ln w="12700">
            <a:solidFill>
              <a:srgbClr val="C9E4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291840" y="5925312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Aumento de valor percebido e complexidade de implementação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1828800" cy="4133088"/>
          </a:xfrm>
          <a:prstGeom prst="roundRect">
            <a:avLst>
              <a:gd name="adj" fmla="val 2500"/>
            </a:avLst>
          </a:prstGeom>
          <a:solidFill>
            <a:srgbClr val="F4FAFD"/>
          </a:solidFill>
          <a:ln w="12700">
            <a:solidFill>
              <a:srgbClr val="CFE2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1828800" cy="201168"/>
          </a:xfrm>
          <a:prstGeom prst="rect">
            <a:avLst/>
          </a:prstGeom>
          <a:solidFill>
            <a:srgbClr val="7CC9E8"/>
          </a:solidFill>
          <a:ln w="12700">
            <a:solidFill>
              <a:srgbClr val="7CC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96112" y="1755648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1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Básico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77824" y="251460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7C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textual personalizada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96112" y="3236976"/>
            <a:ext cx="64008" cy="64008"/>
          </a:xfrm>
          <a:prstGeom prst="ellipse">
            <a:avLst/>
          </a:prstGeom>
          <a:solidFill>
            <a:srgbClr val="7CC9E8"/>
          </a:solidFill>
          <a:ln w="12700">
            <a:solidFill>
              <a:srgbClr val="7CC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24128" y="317296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do perfil do cliente no prompt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96112" y="3803904"/>
            <a:ext cx="64008" cy="64008"/>
          </a:xfrm>
          <a:prstGeom prst="ellipse">
            <a:avLst/>
          </a:prstGeom>
          <a:solidFill>
            <a:srgbClr val="7CC9E8"/>
          </a:solidFill>
          <a:ln w="12700">
            <a:solidFill>
              <a:srgbClr val="7CC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024128" y="373989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ponta a ponta funcionando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2788920" y="1417320"/>
            <a:ext cx="1828800" cy="4133088"/>
          </a:xfrm>
          <a:prstGeom prst="roundRect">
            <a:avLst>
              <a:gd name="adj" fmla="val 2500"/>
            </a:avLst>
          </a:prstGeom>
          <a:solidFill>
            <a:srgbClr val="ECF6FB"/>
          </a:solidFill>
          <a:ln w="12700">
            <a:solidFill>
              <a:srgbClr val="CFE2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2788920" y="1417320"/>
            <a:ext cx="1828800" cy="201168"/>
          </a:xfrm>
          <a:prstGeom prst="rect">
            <a:avLst/>
          </a:prstGeom>
          <a:solidFill>
            <a:srgbClr val="40B9E9"/>
          </a:solidFill>
          <a:ln w="12700">
            <a:solidFill>
              <a:srgbClr val="40B9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953512" y="1755648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2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Intermediário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935224" y="251460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40B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estruturado por seções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2953512" y="3236976"/>
            <a:ext cx="64008" cy="64008"/>
          </a:xfrm>
          <a:prstGeom prst="ellipse">
            <a:avLst/>
          </a:prstGeom>
          <a:solidFill>
            <a:srgbClr val="40B9E9"/>
          </a:solidFill>
          <a:ln w="12700">
            <a:solidFill>
              <a:srgbClr val="40B9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081528" y="317296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Resumo, recomendação e justificativa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2953512" y="3803904"/>
            <a:ext cx="64008" cy="64008"/>
          </a:xfrm>
          <a:prstGeom prst="ellipse">
            <a:avLst/>
          </a:prstGeom>
          <a:solidFill>
            <a:srgbClr val="40B9E9"/>
          </a:solidFill>
          <a:ln w="12700">
            <a:solidFill>
              <a:srgbClr val="40B9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081528" y="373989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simples de consistência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4846320" y="1417320"/>
            <a:ext cx="1828800" cy="4133088"/>
          </a:xfrm>
          <a:prstGeom prst="roundRect">
            <a:avLst>
              <a:gd name="adj" fmla="val 2500"/>
            </a:avLst>
          </a:prstGeom>
          <a:solidFill>
            <a:srgbClr val="E2F1F9"/>
          </a:solidFill>
          <a:ln w="12700">
            <a:solidFill>
              <a:srgbClr val="CFE2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846320" y="1417320"/>
            <a:ext cx="1828800" cy="201168"/>
          </a:xfrm>
          <a:prstGeom prst="rect">
            <a:avLst/>
          </a:prstGeom>
          <a:solidFill>
            <a:srgbClr val="158FD6"/>
          </a:solidFill>
          <a:ln w="12700">
            <a:solidFill>
              <a:srgbClr val="158F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010912" y="1755648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3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Avançado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992624" y="251460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58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 e comparação de carteiras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010912" y="3236976"/>
            <a:ext cx="64008" cy="64008"/>
          </a:xfrm>
          <a:prstGeom prst="ellipse">
            <a:avLst/>
          </a:prstGeom>
          <a:solidFill>
            <a:srgbClr val="158FD6"/>
          </a:solidFill>
          <a:ln w="12700">
            <a:solidFill>
              <a:srgbClr val="158F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138928" y="317296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externos ou indicadores</a:t>
            </a:r>
            <a:endParaRPr lang="en-US" sz="1320" dirty="0"/>
          </a:p>
        </p:txBody>
      </p:sp>
      <p:sp>
        <p:nvSpPr>
          <p:cNvPr id="30" name="Shape 28"/>
          <p:cNvSpPr/>
          <p:nvPr/>
        </p:nvSpPr>
        <p:spPr>
          <a:xfrm>
            <a:off x="5010912" y="3803904"/>
            <a:ext cx="64008" cy="64008"/>
          </a:xfrm>
          <a:prstGeom prst="ellipse">
            <a:avLst/>
          </a:prstGeom>
          <a:solidFill>
            <a:srgbClr val="158FD6"/>
          </a:solidFill>
          <a:ln w="12700">
            <a:solidFill>
              <a:srgbClr val="158F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138928" y="373989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Versões resumida e detalhada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6903720" y="1417320"/>
            <a:ext cx="1828800" cy="4133088"/>
          </a:xfrm>
          <a:prstGeom prst="roundRect">
            <a:avLst>
              <a:gd name="adj" fmla="val 2500"/>
            </a:avLst>
          </a:prstGeom>
          <a:solidFill>
            <a:srgbClr val="D7EAF7"/>
          </a:solidFill>
          <a:ln w="12700">
            <a:solidFill>
              <a:srgbClr val="CFE2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6903720" y="1417320"/>
            <a:ext cx="1828800" cy="201168"/>
          </a:xfrm>
          <a:prstGeom prst="rect">
            <a:avLst/>
          </a:prstGeom>
          <a:solidFill>
            <a:srgbClr val="0A5E9C"/>
          </a:solidFill>
          <a:ln w="12700">
            <a:solidFill>
              <a:srgbClr val="0A5E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7068312" y="1755648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4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7050024" y="251460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5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Validações de perfil e compliance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7068312" y="3236976"/>
            <a:ext cx="64008" cy="64008"/>
          </a:xfrm>
          <a:prstGeom prst="ellipse">
            <a:avLst/>
          </a:prstGeom>
          <a:solidFill>
            <a:srgbClr val="0A5E9C"/>
          </a:solidFill>
          <a:ln w="12700">
            <a:solidFill>
              <a:srgbClr val="0A5E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7196328" y="317296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Explicabilidade e rastreabilidade</a:t>
            </a:r>
            <a:endParaRPr lang="en-US" sz="1320" dirty="0"/>
          </a:p>
        </p:txBody>
      </p:sp>
      <p:sp>
        <p:nvSpPr>
          <p:cNvPr id="38" name="Shape 36"/>
          <p:cNvSpPr/>
          <p:nvPr/>
        </p:nvSpPr>
        <p:spPr>
          <a:xfrm>
            <a:off x="7068312" y="3803904"/>
            <a:ext cx="64008" cy="64008"/>
          </a:xfrm>
          <a:prstGeom prst="ellipse">
            <a:avLst/>
          </a:prstGeom>
          <a:solidFill>
            <a:srgbClr val="0A5E9C"/>
          </a:solidFill>
          <a:ln w="12700">
            <a:solidFill>
              <a:srgbClr val="0A5E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7196328" y="373989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 humana / exportação final</a:t>
            </a:r>
            <a:endParaRPr lang="en-US" sz="1320" dirty="0"/>
          </a:p>
        </p:txBody>
      </p:sp>
      <p:sp>
        <p:nvSpPr>
          <p:cNvPr id="40" name="Shape 38"/>
          <p:cNvSpPr/>
          <p:nvPr/>
        </p:nvSpPr>
        <p:spPr>
          <a:xfrm>
            <a:off x="640080" y="6446520"/>
            <a:ext cx="1092708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NTT DATA | Case GenAI para investimentos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247120" y="6446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109728" cy="658368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68680" y="43891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de avaliação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77824" y="86868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de rubrica para comparar soluções em bases consistentes.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PESOS SUGERIDOS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68680" y="1600200"/>
            <a:ext cx="5303520" cy="438912"/>
          </a:xfrm>
          <a:prstGeom prst="roundRect">
            <a:avLst>
              <a:gd name="adj" fmla="val 10417"/>
            </a:avLst>
          </a:prstGeom>
          <a:solidFill>
            <a:srgbClr val="F5FAFD"/>
          </a:solidFill>
          <a:ln w="12700">
            <a:solidFill>
              <a:srgbClr val="E1ED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78992" y="169164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</a:t>
            </a:r>
            <a:endParaRPr lang="en-US" sz="1430" dirty="0"/>
          </a:p>
        </p:txBody>
      </p:sp>
      <p:sp>
        <p:nvSpPr>
          <p:cNvPr id="9" name="Shape 7"/>
          <p:cNvSpPr/>
          <p:nvPr/>
        </p:nvSpPr>
        <p:spPr>
          <a:xfrm>
            <a:off x="5074920" y="1655064"/>
            <a:ext cx="786384" cy="237744"/>
          </a:xfrm>
          <a:prstGeom prst="roundRect">
            <a:avLst>
              <a:gd name="adj" fmla="val 15385"/>
            </a:avLst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266944" y="169164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2176272"/>
            <a:ext cx="5303520" cy="438912"/>
          </a:xfrm>
          <a:prstGeom prst="roundRect">
            <a:avLst>
              <a:gd name="adj" fmla="val 10417"/>
            </a:avLst>
          </a:prstGeom>
          <a:solidFill>
            <a:srgbClr val="F5FAFD"/>
          </a:solidFill>
          <a:ln w="12700">
            <a:solidFill>
              <a:srgbClr val="E1ED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078992" y="226771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Personalização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5074920" y="2231136"/>
            <a:ext cx="786384" cy="237744"/>
          </a:xfrm>
          <a:prstGeom prst="roundRect">
            <a:avLst>
              <a:gd name="adj" fmla="val 15385"/>
            </a:avLst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266944" y="226771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2752344"/>
            <a:ext cx="5303520" cy="438912"/>
          </a:xfrm>
          <a:prstGeom prst="roundRect">
            <a:avLst>
              <a:gd name="adj" fmla="val 10417"/>
            </a:avLst>
          </a:prstGeom>
          <a:solidFill>
            <a:srgbClr val="F5FAFD"/>
          </a:solidFill>
          <a:ln w="12700">
            <a:solidFill>
              <a:srgbClr val="E1ED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078992" y="284378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do uso de GenAI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5074920" y="2807208"/>
            <a:ext cx="786384" cy="237744"/>
          </a:xfrm>
          <a:prstGeom prst="roundRect">
            <a:avLst>
              <a:gd name="adj" fmla="val 15385"/>
            </a:avLst>
          </a:prstGeom>
          <a:solidFill>
            <a:srgbClr val="33B5E5"/>
          </a:solidFill>
          <a:ln w="12700">
            <a:solidFill>
              <a:srgbClr val="33B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266944" y="28437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3328416"/>
            <a:ext cx="5303520" cy="438912"/>
          </a:xfrm>
          <a:prstGeom prst="roundRect">
            <a:avLst>
              <a:gd name="adj" fmla="val 10417"/>
            </a:avLst>
          </a:prstGeom>
          <a:solidFill>
            <a:srgbClr val="FBFDFF"/>
          </a:solidFill>
          <a:ln w="12700">
            <a:solidFill>
              <a:srgbClr val="E1ED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078992" y="341985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Experiência do usuário</a:t>
            </a:r>
            <a:endParaRPr lang="en-US" sz="1430" dirty="0"/>
          </a:p>
        </p:txBody>
      </p:sp>
      <p:sp>
        <p:nvSpPr>
          <p:cNvPr id="21" name="Shape 19"/>
          <p:cNvSpPr/>
          <p:nvPr/>
        </p:nvSpPr>
        <p:spPr>
          <a:xfrm>
            <a:off x="5074920" y="3383280"/>
            <a:ext cx="786384" cy="237744"/>
          </a:xfrm>
          <a:prstGeom prst="roundRect">
            <a:avLst>
              <a:gd name="adj" fmla="val 15385"/>
            </a:avLst>
          </a:prstGeom>
          <a:solidFill>
            <a:srgbClr val="33B5E5"/>
          </a:solidFill>
          <a:ln w="12700">
            <a:solidFill>
              <a:srgbClr val="33B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266944" y="34198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" y="3904488"/>
            <a:ext cx="5303520" cy="438912"/>
          </a:xfrm>
          <a:prstGeom prst="roundRect">
            <a:avLst>
              <a:gd name="adj" fmla="val 10417"/>
            </a:avLst>
          </a:prstGeom>
          <a:solidFill>
            <a:srgbClr val="FBFDFF"/>
          </a:solidFill>
          <a:ln w="12700">
            <a:solidFill>
              <a:srgbClr val="E1ED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078992" y="399592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Robustez</a:t>
            </a:r>
            <a:endParaRPr lang="en-US" sz="1430" dirty="0"/>
          </a:p>
        </p:txBody>
      </p:sp>
      <p:sp>
        <p:nvSpPr>
          <p:cNvPr id="25" name="Shape 23"/>
          <p:cNvSpPr/>
          <p:nvPr/>
        </p:nvSpPr>
        <p:spPr>
          <a:xfrm>
            <a:off x="5074920" y="3959352"/>
            <a:ext cx="786384" cy="237744"/>
          </a:xfrm>
          <a:prstGeom prst="roundRect">
            <a:avLst>
              <a:gd name="adj" fmla="val 15385"/>
            </a:avLst>
          </a:prstGeom>
          <a:solidFill>
            <a:srgbClr val="33B5E5"/>
          </a:solidFill>
          <a:ln w="12700">
            <a:solidFill>
              <a:srgbClr val="33B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266944" y="399592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68680" y="4480560"/>
            <a:ext cx="5303520" cy="438912"/>
          </a:xfrm>
          <a:prstGeom prst="roundRect">
            <a:avLst>
              <a:gd name="adj" fmla="val 10417"/>
            </a:avLst>
          </a:prstGeom>
          <a:solidFill>
            <a:srgbClr val="FBFDFF"/>
          </a:solidFill>
          <a:ln w="12700">
            <a:solidFill>
              <a:srgbClr val="E1ED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078992" y="457200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Diferenciais</a:t>
            </a:r>
            <a:endParaRPr lang="en-US" sz="1430" dirty="0"/>
          </a:p>
        </p:txBody>
      </p:sp>
      <p:sp>
        <p:nvSpPr>
          <p:cNvPr id="29" name="Shape 27"/>
          <p:cNvSpPr/>
          <p:nvPr/>
        </p:nvSpPr>
        <p:spPr>
          <a:xfrm>
            <a:off x="5074920" y="4535424"/>
            <a:ext cx="786384" cy="237744"/>
          </a:xfrm>
          <a:prstGeom prst="roundRect">
            <a:avLst>
              <a:gd name="adj" fmla="val 15385"/>
            </a:avLst>
          </a:prstGeom>
          <a:solidFill>
            <a:srgbClr val="33B5E5"/>
          </a:solidFill>
          <a:ln w="12700">
            <a:solidFill>
              <a:srgbClr val="33B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266944" y="45720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812280" y="1463040"/>
            <a:ext cx="4526280" cy="1828800"/>
          </a:xfrm>
          <a:prstGeom prst="roundRect">
            <a:avLst>
              <a:gd name="adj" fmla="val 3000"/>
            </a:avLst>
          </a:prstGeom>
          <a:solidFill>
            <a:srgbClr val="F5FAFD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059168" y="17373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AVALIADORAS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86600" y="2084832"/>
            <a:ext cx="73152" cy="7315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7232904" y="1993392"/>
            <a:ext cx="3831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conteúdo muda de forma coerente conforme o cliente selecionado?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7086600" y="2478024"/>
            <a:ext cx="73152" cy="7315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7232904" y="2386584"/>
            <a:ext cx="3831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recomendação é clara, bem escrita e compatível com o perfil informado?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7086600" y="2871216"/>
            <a:ext cx="73152" cy="7315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7232904" y="2779776"/>
            <a:ext cx="3831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experiência é simples, convincente e funcional do início ao fim?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812280" y="3657600"/>
            <a:ext cx="4526280" cy="1828800"/>
          </a:xfrm>
          <a:prstGeom prst="roundRect">
            <a:avLst>
              <a:gd name="adj" fmla="val 3000"/>
            </a:avLst>
          </a:prstGeom>
          <a:solidFill>
            <a:srgbClr val="FBFD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7059168" y="3931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RECOMENDADA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086600" y="4279392"/>
            <a:ext cx="73152" cy="73152"/>
          </a:xfrm>
          <a:prstGeom prst="ellipse">
            <a:avLst/>
          </a:prstGeom>
          <a:solidFill>
            <a:srgbClr val="33B5E5"/>
          </a:solidFill>
          <a:ln w="12700">
            <a:solidFill>
              <a:srgbClr val="33B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7232904" y="4187952"/>
            <a:ext cx="3831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Diferenciais ajudam a elevar a maturidade, mas não substituem o escopo mínimo.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7086600" y="4672584"/>
            <a:ext cx="73152" cy="73152"/>
          </a:xfrm>
          <a:prstGeom prst="ellipse">
            <a:avLst/>
          </a:prstGeom>
          <a:solidFill>
            <a:srgbClr val="33B5E5"/>
          </a:solidFill>
          <a:ln w="12700">
            <a:solidFill>
              <a:srgbClr val="33B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7232904" y="4581144"/>
            <a:ext cx="3831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solução mais simples pode ter nota alta se for clara, consistente e bem executada.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7086600" y="5065776"/>
            <a:ext cx="73152" cy="73152"/>
          </a:xfrm>
          <a:prstGeom prst="ellipse">
            <a:avLst/>
          </a:prstGeom>
          <a:solidFill>
            <a:srgbClr val="33B5E5"/>
          </a:solidFill>
          <a:ln w="12700">
            <a:solidFill>
              <a:srgbClr val="33B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7232904" y="4974336"/>
            <a:ext cx="3831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média ponderada ou faixa de maturidade para a consolidação final.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640080" y="6446520"/>
            <a:ext cx="1092708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NTT DATA | Case GenAI para investimentos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1247120" y="6446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109728" cy="658368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68680" y="43891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Níveis de avaliação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77824" y="86868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Faixas de maturidade para consolidar a percepção final da banca.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1783080" cy="3383280"/>
          </a:xfrm>
          <a:prstGeom prst="roundRect">
            <a:avLst>
              <a:gd name="adj" fmla="val 3077"/>
            </a:avLst>
          </a:prstGeom>
          <a:solidFill>
            <a:srgbClr val="D8EEF9"/>
          </a:solidFill>
          <a:ln w="12700">
            <a:solidFill>
              <a:srgbClr val="D7E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81328" y="1920240"/>
            <a:ext cx="45720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A5E9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591056" y="2029968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5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257860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| Excelente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9264" y="3090672"/>
            <a:ext cx="14813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ponta a ponta robusto, personalização clara, boa experiência e diferenciais relevantes.</a:t>
            </a:r>
            <a:endParaRPr lang="en-US" sz="1330" dirty="0"/>
          </a:p>
        </p:txBody>
      </p:sp>
      <p:sp>
        <p:nvSpPr>
          <p:cNvPr id="11" name="Shape 9"/>
          <p:cNvSpPr/>
          <p:nvPr/>
        </p:nvSpPr>
        <p:spPr>
          <a:xfrm>
            <a:off x="2788920" y="1600200"/>
            <a:ext cx="1783080" cy="3383280"/>
          </a:xfrm>
          <a:prstGeom prst="roundRect">
            <a:avLst>
              <a:gd name="adj" fmla="val 3077"/>
            </a:avLst>
          </a:prstGeom>
          <a:solidFill>
            <a:srgbClr val="E8F6FC"/>
          </a:solidFill>
          <a:ln w="12700">
            <a:solidFill>
              <a:srgbClr val="D7E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447288" y="1920240"/>
            <a:ext cx="45720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58FD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557016" y="2029968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8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53512" y="257860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| Bom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935224" y="3090672"/>
            <a:ext cx="14813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Atende bem ao escopo, com boa consistência, clareza de recomendação e algum refinamento.</a:t>
            </a:r>
            <a:endParaRPr lang="en-US" sz="1330" dirty="0"/>
          </a:p>
        </p:txBody>
      </p:sp>
      <p:sp>
        <p:nvSpPr>
          <p:cNvPr id="16" name="Shape 14"/>
          <p:cNvSpPr/>
          <p:nvPr/>
        </p:nvSpPr>
        <p:spPr>
          <a:xfrm>
            <a:off x="4754880" y="1600200"/>
            <a:ext cx="1783080" cy="3383280"/>
          </a:xfrm>
          <a:prstGeom prst="roundRect">
            <a:avLst>
              <a:gd name="adj" fmla="val 3077"/>
            </a:avLst>
          </a:prstGeom>
          <a:solidFill>
            <a:srgbClr val="F1F9FD"/>
          </a:solidFill>
          <a:ln w="12700">
            <a:solidFill>
              <a:srgbClr val="D7E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413248" y="1920240"/>
            <a:ext cx="45720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33B5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522976" y="2029968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B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19472" y="257860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| Adequado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01184" y="3090672"/>
            <a:ext cx="14813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Cumpre o mínimo funcional, mas com menor profundidade, controle ou acabamento.</a:t>
            </a:r>
            <a:endParaRPr lang="en-US" sz="1330" dirty="0"/>
          </a:p>
        </p:txBody>
      </p:sp>
      <p:sp>
        <p:nvSpPr>
          <p:cNvPr id="21" name="Shape 19"/>
          <p:cNvSpPr/>
          <p:nvPr/>
        </p:nvSpPr>
        <p:spPr>
          <a:xfrm>
            <a:off x="6720840" y="1600200"/>
            <a:ext cx="1783080" cy="3383280"/>
          </a:xfrm>
          <a:prstGeom prst="roundRect">
            <a:avLst>
              <a:gd name="adj" fmla="val 3077"/>
            </a:avLst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7379208" y="1920240"/>
            <a:ext cx="45720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7CC9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488936" y="2029968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85432" y="257860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| Inicial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867144" y="3090672"/>
            <a:ext cx="14813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 conceito parcial, pouca aderência aos requisitos ou fragilidade na execução.</a:t>
            </a:r>
            <a:endParaRPr lang="en-US" sz="1330" dirty="0"/>
          </a:p>
        </p:txBody>
      </p:sp>
      <p:sp>
        <p:nvSpPr>
          <p:cNvPr id="26" name="Shape 24"/>
          <p:cNvSpPr/>
          <p:nvPr/>
        </p:nvSpPr>
        <p:spPr>
          <a:xfrm>
            <a:off x="8796528" y="1600200"/>
            <a:ext cx="2651760" cy="3383280"/>
          </a:xfrm>
          <a:prstGeom prst="roundRect">
            <a:avLst>
              <a:gd name="adj" fmla="val 2069"/>
            </a:avLst>
          </a:prstGeom>
          <a:solidFill>
            <a:srgbClr val="F5FAFD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9052560" y="18470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070848" y="2240280"/>
            <a:ext cx="73152" cy="7315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9217152" y="214884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Avalie cada critério da rubrica.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9070848" y="2697480"/>
            <a:ext cx="73152" cy="7315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9217152" y="260604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Atribua uma faixa final de maturidade.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9070848" y="3154680"/>
            <a:ext cx="73152" cy="7315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9217152" y="306324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 pontos fortes, riscos e próximos passos.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070848" y="37947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banca pode usar a faixa como síntese executiva e a rubrica como justificativa detalhada.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40080" y="6446520"/>
            <a:ext cx="1092708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NTT DATA | Case GenAI para investimentos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47120" y="6446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109728" cy="658368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68680" y="43891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Orientações finais para os participantes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77824" y="868680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Diretrizes para tornar a entrega mais realista, clara e útil.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4709160" cy="2011680"/>
          </a:xfrm>
          <a:prstGeom prst="roundRect">
            <a:avLst>
              <a:gd name="adj" fmla="val 3636"/>
            </a:avLst>
          </a:prstGeom>
          <a:solidFill>
            <a:srgbClr val="F5FAFD"/>
          </a:solidFill>
          <a:ln w="12700">
            <a:solidFill>
              <a:srgbClr val="D8E7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841248" y="1481328"/>
            <a:ext cx="109728" cy="1975104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42416" y="1627632"/>
            <a:ext cx="4398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Boas práticas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60704" y="2112264"/>
            <a:ext cx="54864" cy="54864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170432" y="202996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dados fictícios e evite promessas reais de retorno financeiro.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60704" y="2450592"/>
            <a:ext cx="54864" cy="54864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170432" y="236829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Priorize clareza, aderência ao perfil e transparência no racional.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60704" y="2788920"/>
            <a:ext cx="54864" cy="54864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170432" y="270662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Mostre arquitetura, prompt e trade-offs durante a apresentação.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3749040"/>
            <a:ext cx="4709160" cy="1600200"/>
          </a:xfrm>
          <a:prstGeom prst="roundRect">
            <a:avLst>
              <a:gd name="adj" fmla="val 4571"/>
            </a:avLst>
          </a:prstGeom>
          <a:solidFill>
            <a:srgbClr val="FBFDFF"/>
          </a:solidFill>
          <a:ln w="12700">
            <a:solidFill>
              <a:srgbClr val="D8E7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41248" y="3767328"/>
            <a:ext cx="109728" cy="1563624"/>
          </a:xfrm>
          <a:prstGeom prst="rect">
            <a:avLst/>
          </a:prstGeom>
          <a:solidFill>
            <a:srgbClr val="33B5E5"/>
          </a:solidFill>
          <a:ln w="12700">
            <a:solidFill>
              <a:srgbClr val="33B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042416" y="3913632"/>
            <a:ext cx="4398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Extras recomendados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60704" y="4398264"/>
            <a:ext cx="54864" cy="54864"/>
          </a:xfrm>
          <a:prstGeom prst="ellipse">
            <a:avLst/>
          </a:prstGeom>
          <a:solidFill>
            <a:srgbClr val="33B5E5"/>
          </a:solidFill>
          <a:ln w="12700">
            <a:solidFill>
              <a:srgbClr val="33B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170432" y="431596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de prompt, guardrails, validações de compliance e exportação do relatório.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60704" y="4736592"/>
            <a:ext cx="54864" cy="54864"/>
          </a:xfrm>
          <a:prstGeom prst="ellipse">
            <a:avLst/>
          </a:prstGeom>
          <a:solidFill>
            <a:srgbClr val="33B5E5"/>
          </a:solidFill>
          <a:ln w="12700">
            <a:solidFill>
              <a:srgbClr val="33B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170432" y="465429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entre cliente conservador, moderado e arrojado para evidenciar personalização.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989320" y="1463040"/>
            <a:ext cx="534924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236208" y="17647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MENSAGEM-CHAVE DO CASE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63640" y="21488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E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objetivo não é apenas gerar texto com IA.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263640" y="260604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 é demonstrar como GenAI pode ser aplicada de forma útil, personalizada e responsável em um contexto bancário real — equilibrando experiência, qualidade do conteúdo gerado e governança da solução.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3977640"/>
            <a:ext cx="4389120" cy="868680"/>
          </a:xfrm>
          <a:prstGeom prst="roundRect">
            <a:avLst>
              <a:gd name="adj" fmla="val 4211"/>
            </a:avLst>
          </a:prstGeom>
          <a:solidFill>
            <a:srgbClr val="F5FAFD"/>
          </a:solidFill>
          <a:ln w="12700">
            <a:solidFill>
              <a:srgbClr val="D8EA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73952" y="42428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 uma solução simples, convincente e claramente conectada ao contexto do cliente.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40080" y="6446520"/>
            <a:ext cx="10927080" cy="0"/>
          </a:xfrm>
          <a:prstGeom prst="line">
            <a:avLst/>
          </a:prstGeom>
          <a:noFill/>
          <a:ln w="1270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NTT DATA | Case GenAI para investimentos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47120" y="64465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920</Words>
  <Application>Microsoft Office PowerPoint</Application>
  <PresentationFormat>Widescreen</PresentationFormat>
  <Paragraphs>150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GenAI para Investimentos - NTT DATA</dc:title>
  <dc:subject>Case GenAI para investimentos</dc:subject>
  <dc:creator>OpenAI</dc:creator>
  <cp:lastModifiedBy>Cleidiane Silva Prates</cp:lastModifiedBy>
  <cp:revision>1</cp:revision>
  <dcterms:created xsi:type="dcterms:W3CDTF">2026-03-23T21:22:21Z</dcterms:created>
  <dcterms:modified xsi:type="dcterms:W3CDTF">2026-03-24T12:11:22Z</dcterms:modified>
</cp:coreProperties>
</file>